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8" r:id="rId4"/>
    <p:sldId id="261" r:id="rId5"/>
    <p:sldId id="266" r:id="rId6"/>
    <p:sldId id="265" r:id="rId7"/>
    <p:sldId id="267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CC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67D3FF-223D-461D-A3DA-81E0CA0611B8}" v="1477" dt="2026-03-14T03:56:02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ullah Khan" userId="138a6adb-d653-4402-9169-6f2577552ad0" providerId="ADAL" clId="{924BD708-320C-4E8C-B6A0-4F6A08D2875D}"/>
    <pc:docChg chg="modSld">
      <pc:chgData name="Amanullah Khan" userId="138a6adb-d653-4402-9169-6f2577552ad0" providerId="ADAL" clId="{924BD708-320C-4E8C-B6A0-4F6A08D2875D}" dt="2026-03-14T03:56:02.119" v="36" actId="313"/>
      <pc:docMkLst>
        <pc:docMk/>
      </pc:docMkLst>
      <pc:sldChg chg="modSp">
        <pc:chgData name="Amanullah Khan" userId="138a6adb-d653-4402-9169-6f2577552ad0" providerId="ADAL" clId="{924BD708-320C-4E8C-B6A0-4F6A08D2875D}" dt="2026-03-14T03:56:02.119" v="36" actId="313"/>
        <pc:sldMkLst>
          <pc:docMk/>
          <pc:sldMk cId="330647810" sldId="268"/>
        </pc:sldMkLst>
        <pc:spChg chg="mod">
          <ac:chgData name="Amanullah Khan" userId="138a6adb-d653-4402-9169-6f2577552ad0" providerId="ADAL" clId="{924BD708-320C-4E8C-B6A0-4F6A08D2875D}" dt="2026-03-14T03:56:02.119" v="36" actId="313"/>
          <ac:spMkLst>
            <pc:docMk/>
            <pc:sldMk cId="330647810" sldId="268"/>
            <ac:spMk id="3" creationId="{2EAC63C0-9AAB-8D7E-62AB-93BE4C546065}"/>
          </ac:spMkLst>
        </pc:spChg>
        <pc:spChg chg="mod">
          <ac:chgData name="Amanullah Khan" userId="138a6adb-d653-4402-9169-6f2577552ad0" providerId="ADAL" clId="{924BD708-320C-4E8C-B6A0-4F6A08D2875D}" dt="2026-03-14T03:52:09.721" v="0" actId="255"/>
          <ac:spMkLst>
            <pc:docMk/>
            <pc:sldMk cId="330647810" sldId="268"/>
            <ac:spMk id="6" creationId="{63845955-BA81-1B35-B55E-9880DCD3FF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23104-96A6-41E3-A582-E9238CDE273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BBC63-9C0D-4229-9A9C-77ACA3B08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5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BBC63-9C0D-4229-9A9C-77ACA3B08A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81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BBC63-9C0D-4229-9A9C-77ACA3B08A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68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718D-CA25-2019-E2CB-E1485E35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334A5-0641-C134-F462-19B533BFD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4F9A9-F818-8799-A30D-A3BD1AC28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8E66B-6108-0734-551E-055770DE1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BBC63-9C0D-4229-9A9C-77ACA3B08A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7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researchgate.net/publication/263120835_What_Is_the_Content_of_the_World's_Technologically_Mediated_Information_and_Communication_Capacity_How_Much_Text_Image_Audio_and_Video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f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s://www.researchgate.net/publication/299379163_A_formal_definition_of_Big_Data_based_on_its_essential_features" TargetMode="Externa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765" y="-76200"/>
            <a:ext cx="8610600" cy="112934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endParaRPr lang="en-US" sz="2000" b="1" i="0" u="none" spc="200" baseline="0" dirty="0"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20000"/>
              </a:lnSpc>
              <a:defRPr/>
            </a:pPr>
            <a:endParaRPr lang="en-US" sz="2000" b="1" spc="200" dirty="0"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20000"/>
              </a:lnSpc>
              <a:defRPr/>
            </a:pPr>
            <a:endParaRPr lang="en-US" sz="2000" b="1" i="0" u="none" spc="200" baseline="0" dirty="0"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20000"/>
              </a:lnSpc>
              <a:defRPr/>
            </a:pPr>
            <a:endParaRPr lang="en-US" sz="2000" b="1" spc="200" dirty="0"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20000"/>
              </a:lnSpc>
              <a:defRPr/>
            </a:pPr>
            <a:endParaRPr lang="en-US" sz="2000" b="1" i="0" u="none" spc="200" baseline="0" dirty="0"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20000"/>
              </a:lnSpc>
              <a:defRPr/>
            </a:pPr>
            <a:endParaRPr lang="en-US" sz="2000" b="1" spc="200" dirty="0"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l" fontAlgn="auto">
              <a:lnSpc>
                <a:spcPct val="120000"/>
              </a:lnSpc>
              <a:defRPr/>
            </a:pPr>
            <a:endParaRPr lang="en-US" sz="2000" b="1" i="0" u="none" spc="200" baseline="0" dirty="0"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ctr" fontAlgn="auto">
              <a:lnSpc>
                <a:spcPct val="120000"/>
              </a:lnSpc>
              <a:defRPr/>
            </a:pPr>
            <a:endParaRPr lang="en-US" sz="2000" b="1" spc="200" dirty="0">
              <a:solidFill>
                <a:srgbClr val="FF0000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marL="0" indent="0" algn="ctr" fontAlgn="auto">
              <a:lnSpc>
                <a:spcPct val="120000"/>
              </a:lnSpc>
              <a:defRPr/>
            </a:pPr>
            <a:endParaRPr lang="en-US" sz="2000" b="1" i="0" u="none" spc="200" baseline="0" dirty="0">
              <a:solidFill>
                <a:srgbClr val="FF0000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sz="2000" b="1" i="0" u="none" spc="200" baseline="0" dirty="0">
                <a:solidFill>
                  <a:srgbClr val="FF0000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International Conference on “Social Sciences Analytics with Big Data (ICSSABD - 26)”</a:t>
            </a:r>
          </a:p>
          <a:p>
            <a:pPr marL="0" indent="0" algn="ctr" fontAlgn="auto">
              <a:lnSpc>
                <a:spcPct val="120000"/>
              </a:lnSpc>
              <a:defRPr/>
            </a:pPr>
            <a:endParaRPr lang="en-US" sz="2000" b="1" spc="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fontAlgn="auto">
              <a:lnSpc>
                <a:spcPct val="120000"/>
              </a:lnSpc>
              <a:defRPr/>
            </a:pPr>
            <a:r>
              <a:rPr lang="en-US" sz="20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Keynote Speaker </a:t>
            </a:r>
          </a:p>
          <a:p>
            <a:pPr marL="0" indent="0" algn="r" fontAlgn="auto">
              <a:lnSpc>
                <a:spcPct val="120000"/>
              </a:lnSpc>
              <a:defRPr/>
            </a:pPr>
            <a:r>
              <a:rPr lang="en-US" sz="2000" b="1" i="1" spc="200" dirty="0">
                <a:solidFill>
                  <a:srgbClr val="000099"/>
                </a:solidFill>
                <a:highlight>
                  <a:srgbClr val="FFFF00"/>
                </a:highlight>
                <a:latin typeface="Book Antiqua" panose="02040602050305030304" pitchFamily="18" charset="0"/>
                <a:cs typeface="Times New Roman" panose="02020603050405020304" pitchFamily="18" charset="0"/>
              </a:rPr>
              <a:t>“Amanullah Khan Ameer Khan”</a:t>
            </a:r>
          </a:p>
          <a:p>
            <a:pPr marL="0" indent="0" algn="r" fontAlgn="auto">
              <a:lnSpc>
                <a:spcPct val="120000"/>
              </a:lnSpc>
              <a:defRPr/>
            </a:pPr>
            <a:r>
              <a:rPr lang="en-US" sz="20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Manager , HCLTech</a:t>
            </a:r>
            <a:endParaRPr lang="en-US" sz="20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59765" y="4460240"/>
            <a:ext cx="6115684" cy="368300"/>
            <a:chOff x="5633" y="7539"/>
            <a:chExt cx="9631" cy="580"/>
          </a:xfrm>
        </p:grpSpPr>
        <p:grpSp>
          <p:nvGrpSpPr>
            <p:cNvPr id="4" name="Group 4"/>
            <p:cNvGrpSpPr/>
            <p:nvPr/>
          </p:nvGrpSpPr>
          <p:grpSpPr>
            <a:xfrm>
              <a:off x="6282" y="7539"/>
              <a:ext cx="8982" cy="580"/>
              <a:chOff x="4055231" y="3753992"/>
              <a:chExt cx="5703568" cy="368300"/>
            </a:xfrm>
            <a:noFill/>
          </p:grpSpPr>
          <p:sp>
            <p:nvSpPr>
              <p:cNvPr id="5" name="TextBox 5"/>
              <p:cNvSpPr txBox="1"/>
              <p:nvPr/>
            </p:nvSpPr>
            <p:spPr>
              <a:xfrm>
                <a:off x="4055231" y="3753992"/>
                <a:ext cx="2199640" cy="3683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rtlCol="0" anchor="t">
                <a:spAutoFit/>
              </a:bodyPr>
              <a:lstStyle/>
              <a:p>
                <a:pPr marL="0" algn="l">
                  <a:defRPr/>
                </a:pPr>
                <a:r>
                  <a:rPr lang="en-US" sz="1800" b="0" i="0" u="none" baseline="0">
                    <a:solidFill>
                      <a:schemeClr val="bg2"/>
                    </a:solidFill>
                    <a:latin typeface="思源黑体 Normal"/>
                    <a:ea typeface="思源黑体 Normal"/>
                  </a:rPr>
                  <a:t>Reporter:XXX</a:t>
                </a:r>
                <a:endParaRPr lang="en-US" sz="1100"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6677145" y="3753992"/>
                <a:ext cx="3081654" cy="3683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/>
                <a:r>
                  <a:rPr lang="en-US" sz="1800" b="0" i="0" u="none" baseline="0" dirty="0">
                    <a:solidFill>
                      <a:schemeClr val="bg2"/>
                    </a:solidFill>
                    <a:latin typeface="思源黑体 Normal"/>
                    <a:ea typeface="思源黑体 Normal"/>
                  </a:rPr>
                  <a:t>Date:20XX-XX-XX</a:t>
                </a:r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5633" y="7550"/>
              <a:ext cx="558" cy="558"/>
            </a:xfrm>
            <a:prstGeom prst="ellipse">
              <a:avLst/>
            </a:prstGeom>
            <a:solidFill>
              <a:srgbClr val="45DFF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9821" y="7550"/>
              <a:ext cx="558" cy="558"/>
            </a:xfrm>
            <a:prstGeom prst="ellipse">
              <a:avLst/>
            </a:prstGeom>
            <a:solidFill>
              <a:srgbClr val="45DFFC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6E087-58F1-3C2A-5C13-25E2B24F23CC}"/>
              </a:ext>
            </a:extLst>
          </p:cNvPr>
          <p:cNvSpPr txBox="1"/>
          <p:nvPr/>
        </p:nvSpPr>
        <p:spPr>
          <a:xfrm>
            <a:off x="8001000" y="10886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Held on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14-Mar-2026</a:t>
            </a: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思源黑体 Normal"/>
                <a:cs typeface="Times New Roman" panose="02020603050405020304" pitchFamily="18" charset="0"/>
              </a:rPr>
              <a:t>, over virtual Zoom Conference.</a:t>
            </a:r>
            <a:endParaRPr 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7.png">
            <a:extLst>
              <a:ext uri="{FF2B5EF4-FFF2-40B4-BE49-F238E27FC236}">
                <a16:creationId xmlns:a16="http://schemas.microsoft.com/office/drawing/2014/main" id="{9FE5F88F-8D47-C0FD-1230-CC4C4571A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3" b="4533"/>
          <a:stretch/>
        </p:blipFill>
        <p:spPr>
          <a:xfrm>
            <a:off x="5159287" y="3265844"/>
            <a:ext cx="4076871" cy="3256071"/>
          </a:xfrm>
          <a:prstGeom prst="rect">
            <a:avLst/>
          </a:prstGeom>
        </p:spPr>
      </p:pic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8" b="8278"/>
          <a:stretch/>
        </p:blipFill>
        <p:spPr>
          <a:xfrm>
            <a:off x="2940037" y="1189377"/>
            <a:ext cx="2631634" cy="210180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549900" y="2564130"/>
            <a:ext cx="6090920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 dirty="0">
                <a:solidFill>
                  <a:srgbClr val="002060"/>
                </a:solidFill>
                <a:latin typeface="思源黑体 Normal"/>
                <a:ea typeface="思源黑体 Normal"/>
              </a:rPr>
              <a:t>Professional Summary &amp; Background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49900" y="188023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32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Speaker</a:t>
            </a:r>
            <a:r>
              <a:rPr lang="en-US" sz="32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45DFF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429000" y="3284220"/>
            <a:ext cx="8364220" cy="17945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400" b="1" i="0" u="none" baseline="0" dirty="0">
                <a:solidFill>
                  <a:srgbClr val="FF0000"/>
                </a:solidFill>
                <a:latin typeface="思源黑体 Normal"/>
                <a:ea typeface="思源黑体 Normal"/>
              </a:rPr>
              <a:t>Techno-Functional Leader | Data Platforms</a:t>
            </a:r>
            <a:r>
              <a:rPr lang="en-US" sz="1400" b="1" dirty="0">
                <a:solidFill>
                  <a:srgbClr val="FF0000"/>
                </a:solidFill>
                <a:latin typeface="思源黑体 Normal"/>
                <a:ea typeface="思源黑体 Normal"/>
              </a:rPr>
              <a:t> -</a:t>
            </a:r>
            <a:r>
              <a:rPr lang="en-US" sz="1400" b="1" i="0" u="none" baseline="0" dirty="0">
                <a:solidFill>
                  <a:srgbClr val="FF0000"/>
                </a:solidFill>
                <a:latin typeface="思源黑体 Normal"/>
                <a:ea typeface="思源黑体 Normal"/>
              </a:rPr>
              <a:t> Strategy , Operations &amp; Delivery</a:t>
            </a:r>
            <a:endParaRPr lang="en-US" sz="1400" b="1" dirty="0">
              <a:solidFill>
                <a:srgbClr val="002060"/>
              </a:solidFill>
              <a:latin typeface="思源黑体 Normal"/>
              <a:ea typeface="思源黑体 Normal"/>
            </a:endParaRPr>
          </a:p>
          <a:p>
            <a:pPr marL="285750" indent="-285750" algn="just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b="1" i="0" u="none" baseline="0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  <a:cs typeface="Times New Roman" panose="02020603050405020304" pitchFamily="18" charset="0"/>
              </a:rPr>
              <a:t>14-Years of Driving data excellence across Industries , Businesses and Clients with exemplary expertise spanning across 3-Multi National Organizations-  "DXC, Accenture, and HCLTech" </a:t>
            </a:r>
            <a:r>
              <a:rPr lang="en-US" sz="1400" b="1" i="0" u="none" baseline="0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</a:rPr>
              <a:t>.</a:t>
            </a:r>
          </a:p>
          <a:p>
            <a:pPr marL="285750" indent="-285750" algn="just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  <a:cs typeface="Times New Roman" panose="02020603050405020304" pitchFamily="18" charset="0"/>
              </a:rPr>
              <a:t>1× Accenture High Performer Honor | 2× Maybank Plaque Honor | 6× HCL Distinct Performer Honor |HCL League of Achievers Inductee.</a:t>
            </a:r>
            <a:r>
              <a:rPr lang="en-US" sz="1400" b="1" i="0" u="none" baseline="0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</a:rPr>
              <a:t>
</a:t>
            </a:r>
            <a:r>
              <a:rPr lang="en-US" sz="1400" b="1" i="0" u="none" baseline="0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  <a:cs typeface="Times New Roman" panose="02020603050405020304" pitchFamily="18" charset="0"/>
              </a:rPr>
              <a:t>Deep-domain experience in Banking/FMCG/Healthcare/Retail/Real Estate Industries . Orchestrated complex Client &amp; Stakeholder management over landscapes across APAC, EMEA, ASEAN, and North America (NA) regions .
Helped clients leverage their technological landscapes on Data-Platforms to generate high ROI on their Business-to-Technology Funding Outcomes.
Detailed summary available on LinkedIn: https://www.linkedin.com/in/amanullah-khan-ameer-khan-0bb4a749/.</a:t>
            </a:r>
            <a:endParaRPr lang="en-US" sz="1400" b="1" dirty="0">
              <a:solidFill>
                <a:srgbClr val="0000FF"/>
              </a:solidFill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17D6E-5D15-1B2F-A80E-5C451EE397F7}"/>
              </a:ext>
            </a:extLst>
          </p:cNvPr>
          <p:cNvSpPr txBox="1"/>
          <p:nvPr/>
        </p:nvSpPr>
        <p:spPr>
          <a:xfrm>
            <a:off x="717822" y="1004711"/>
            <a:ext cx="229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C4D69B-A51B-5596-7532-9FB36237E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591250"/>
            <a:ext cx="5023687" cy="1471252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7325-FB72-B2F5-1CAD-BFA87D5D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EAC63C0-9AAB-8D7E-62AB-93BE4C546065}"/>
              </a:ext>
            </a:extLst>
          </p:cNvPr>
          <p:cNvSpPr txBox="1"/>
          <p:nvPr/>
        </p:nvSpPr>
        <p:spPr>
          <a:xfrm>
            <a:off x="5549900" y="2564130"/>
            <a:ext cx="6090920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500" b="1" i="0" u="none" baseline="0" dirty="0" err="1">
                <a:solidFill>
                  <a:srgbClr val="002060"/>
                </a:solidFill>
                <a:latin typeface="思源黑体 Normal"/>
                <a:ea typeface="思源黑体 Normal"/>
              </a:rPr>
              <a:t>Forenote</a:t>
            </a:r>
            <a:r>
              <a:rPr lang="en-US" sz="2500" b="1" i="0" u="none" baseline="0" dirty="0">
                <a:solidFill>
                  <a:srgbClr val="002060"/>
                </a:solidFill>
                <a:latin typeface="思源黑体 Normal"/>
                <a:ea typeface="思源黑体 Normal"/>
              </a:rPr>
              <a:t> </a:t>
            </a:r>
            <a:r>
              <a:rPr lang="en-US" sz="2500" b="1" i="0" u="none" baseline="0">
                <a:solidFill>
                  <a:srgbClr val="002060"/>
                </a:solidFill>
                <a:latin typeface="思源黑体 Normal"/>
                <a:ea typeface="思源黑体 Normal"/>
              </a:rPr>
              <a:t>– “Social </a:t>
            </a:r>
            <a:r>
              <a:rPr lang="en-US" sz="2500" b="1" i="0" u="none" baseline="0" dirty="0">
                <a:solidFill>
                  <a:srgbClr val="002060"/>
                </a:solidFill>
                <a:latin typeface="思源黑体 Normal"/>
                <a:ea typeface="思源黑体 Normal"/>
              </a:rPr>
              <a:t>Sciences </a:t>
            </a:r>
            <a:r>
              <a:rPr lang="en-US" sz="2500" b="1" i="0" u="none" baseline="0">
                <a:solidFill>
                  <a:srgbClr val="002060"/>
                </a:solidFill>
                <a:latin typeface="思源黑体 Normal"/>
                <a:ea typeface="思源黑体 Normal"/>
              </a:rPr>
              <a:t>with Bigdata”</a:t>
            </a:r>
            <a:endParaRPr lang="en-US" sz="2500" b="1" dirty="0">
              <a:solidFill>
                <a:srgbClr val="002060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65A2B7F-162E-C7BD-F57A-A70D9CEA2287}"/>
              </a:ext>
            </a:extLst>
          </p:cNvPr>
          <p:cNvSpPr txBox="1"/>
          <p:nvPr/>
        </p:nvSpPr>
        <p:spPr>
          <a:xfrm>
            <a:off x="5549900" y="188023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endParaRPr lang="en-US" sz="3200" b="1" spc="200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B70CB14-A087-FEE1-36B9-43F5768E7E40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45DFFC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3845955-BA81-1B35-B55E-9880DCD3FFE7}"/>
              </a:ext>
            </a:extLst>
          </p:cNvPr>
          <p:cNvSpPr txBox="1"/>
          <p:nvPr/>
        </p:nvSpPr>
        <p:spPr>
          <a:xfrm>
            <a:off x="3429000" y="3284220"/>
            <a:ext cx="8364220" cy="17945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285750" indent="-285750" algn="just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i="0" u="none" baseline="0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  <a:cs typeface="Times New Roman" panose="02020603050405020304" pitchFamily="18" charset="0"/>
              </a:rPr>
              <a:t>Nature of Data – Analog</a:t>
            </a:r>
            <a:r>
              <a:rPr lang="en-US" sz="2000" b="1" i="0" u="none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  <a:cs typeface="Times New Roman" panose="02020603050405020304" pitchFamily="18" charset="0"/>
              </a:rPr>
              <a:t> v/s Digital</a:t>
            </a:r>
            <a:endParaRPr lang="en-US" sz="2000" b="1" i="0" u="none" baseline="0" dirty="0">
              <a:solidFill>
                <a:srgbClr val="0000FF"/>
              </a:solidFill>
              <a:latin typeface="Centaur" panose="02030504050205020304" pitchFamily="18" charset="0"/>
              <a:ea typeface="思源黑体 Normal"/>
            </a:endParaRPr>
          </a:p>
          <a:p>
            <a:pPr marL="285750" indent="-285750" algn="just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i="0" u="none" baseline="0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  <a:cs typeface="Times New Roman" panose="02020603050405020304" pitchFamily="18" charset="0"/>
              </a:rPr>
              <a:t>Digitalization
</a:t>
            </a:r>
            <a:r>
              <a:rPr lang="en-US" sz="2000" b="1" dirty="0">
                <a:solidFill>
                  <a:srgbClr val="0000FF"/>
                </a:solidFill>
                <a:latin typeface="Centaur" panose="02030504050205020304" pitchFamily="18" charset="0"/>
                <a:ea typeface="思源黑体 Normal"/>
                <a:cs typeface="Times New Roman" panose="02020603050405020304" pitchFamily="18" charset="0"/>
              </a:rPr>
              <a:t>What Quantifies Big Data ?</a:t>
            </a:r>
          </a:p>
          <a:p>
            <a:pPr marL="285750" indent="-285750" algn="just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0000FF"/>
                </a:solidFill>
                <a:latin typeface="Centaur" panose="02030504050205020304" pitchFamily="18" charset="0"/>
                <a:cs typeface="Times New Roman" panose="02020603050405020304" pitchFamily="18" charset="0"/>
              </a:rPr>
              <a:t>Social Sciences with Big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967FE-F181-4805-0F1E-D740ABBE5E6F}"/>
              </a:ext>
            </a:extLst>
          </p:cNvPr>
          <p:cNvSpPr txBox="1"/>
          <p:nvPr/>
        </p:nvSpPr>
        <p:spPr>
          <a:xfrm>
            <a:off x="717822" y="1004711"/>
            <a:ext cx="229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64781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45DFF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17171" y="928371"/>
            <a:ext cx="10820400" cy="587466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>
              <a:defRPr/>
            </a:pPr>
            <a:r>
              <a:rPr lang="en-US" sz="32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Step Back to Big Data- Bombardment of Information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195076AD-823C-E0D2-BA73-D6C268DFA525}"/>
              </a:ext>
            </a:extLst>
          </p:cNvPr>
          <p:cNvSpPr txBox="1"/>
          <p:nvPr/>
        </p:nvSpPr>
        <p:spPr>
          <a:xfrm>
            <a:off x="3429000" y="5259160"/>
            <a:ext cx="8229600" cy="1340938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b="1" u="sng" dirty="0">
                <a:solidFill>
                  <a:schemeClr val="accent2">
                    <a:lumMod val="75000"/>
                  </a:schemeClr>
                </a:solidFill>
              </a:rPr>
              <a:t>Citation</a:t>
            </a:r>
            <a:r>
              <a:rPr lang="en-US" sz="1600" b="1" dirty="0"/>
              <a:t> : </a:t>
            </a:r>
            <a:r>
              <a:rPr lang="en-US" sz="1400" b="1" dirty="0">
                <a:hlinkClick r:id="rId2"/>
              </a:rPr>
              <a:t>https://www.researchgate.net/publication/263120835_What_Is_the_Content_of_the_World's_Technologically_Mediated_Information_and_Communication_Capacity_How_Much_Text_Image_Audio_and_Video</a:t>
            </a:r>
            <a:endParaRPr lang="en-US" sz="1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8B96BB-49E7-0A02-E5CD-5AD83AF85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981200"/>
            <a:ext cx="6172200" cy="31151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306273-F87E-424E-AE51-2973D75234D0}"/>
              </a:ext>
            </a:extLst>
          </p:cNvPr>
          <p:cNvSpPr txBox="1"/>
          <p:nvPr/>
        </p:nvSpPr>
        <p:spPr>
          <a:xfrm>
            <a:off x="3200400" y="1515837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Evolution from Analog records to Digital Traces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F3657-612F-8650-6CFB-480E4ADC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D41EC5C1-7C92-47EF-9149-FC8D692823A4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45DFF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B19161A-BE5C-585D-211E-D7A89142D805}"/>
              </a:ext>
            </a:extLst>
          </p:cNvPr>
          <p:cNvSpPr txBox="1"/>
          <p:nvPr/>
        </p:nvSpPr>
        <p:spPr>
          <a:xfrm>
            <a:off x="1317171" y="928371"/>
            <a:ext cx="10820400" cy="587466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>
              <a:defRPr/>
            </a:pPr>
            <a:r>
              <a:rPr lang="en-US" sz="32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Step Back to Big Data- Bombardment of Information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053BC53E-8E9D-3498-23C8-215B01667D5D}"/>
              </a:ext>
            </a:extLst>
          </p:cNvPr>
          <p:cNvSpPr txBox="1"/>
          <p:nvPr/>
        </p:nvSpPr>
        <p:spPr>
          <a:xfrm>
            <a:off x="3429000" y="5259160"/>
            <a:ext cx="8229600" cy="1340938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b="1" u="sng" dirty="0">
                <a:solidFill>
                  <a:schemeClr val="accent2">
                    <a:lumMod val="75000"/>
                  </a:schemeClr>
                </a:solidFill>
              </a:rPr>
              <a:t>Citation</a:t>
            </a:r>
            <a:r>
              <a:rPr lang="en-US" sz="1600" b="1" dirty="0"/>
              <a:t> :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sz="1400" b="1" dirty="0"/>
              <a:t>IDC Global </a:t>
            </a:r>
            <a:r>
              <a:rPr lang="en-US" sz="1400" b="1" dirty="0" err="1"/>
              <a:t>DataSphere</a:t>
            </a:r>
            <a:r>
              <a:rPr lang="en-US" sz="1400" b="1" dirty="0"/>
              <a:t> Forecast 2024-26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A309CD-075F-F0E8-2A3E-B35150612935}"/>
              </a:ext>
            </a:extLst>
          </p:cNvPr>
          <p:cNvSpPr txBox="1"/>
          <p:nvPr/>
        </p:nvSpPr>
        <p:spPr>
          <a:xfrm>
            <a:off x="3200400" y="1515837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Evolution from Analog records to Digital Traces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3C9C5-2A4A-DA24-A2DD-DB017B90F7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885169"/>
            <a:ext cx="4267200" cy="3641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8D2C5E-8A3E-0062-72E0-CBEB6C829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1885169"/>
            <a:ext cx="169545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50716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B857-6D6A-8C5F-3357-92F74097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AC9D978-0E76-E550-56E1-C824FAFB8723}"/>
              </a:ext>
            </a:extLst>
          </p:cNvPr>
          <p:cNvSpPr txBox="1"/>
          <p:nvPr/>
        </p:nvSpPr>
        <p:spPr>
          <a:xfrm>
            <a:off x="2819400" y="4747986"/>
            <a:ext cx="6781800" cy="31768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000" b="1" dirty="0">
                <a:latin typeface="思源黑体 Normal"/>
                <a:ea typeface="思源黑体 Normal"/>
                <a:hlinkClick r:id="rId2"/>
              </a:rPr>
              <a:t>https://www.researchgate.net/publication/299379163_A_formal_definition_of_Big_Data_based_on_its_essential_features</a:t>
            </a:r>
            <a:endParaRPr lang="en-US" sz="1000" b="1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CE99469-8A10-D559-9B11-E4B75C819CA9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45DFF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E02A789-2693-EA6D-2E89-CF1769913285}"/>
              </a:ext>
            </a:extLst>
          </p:cNvPr>
          <p:cNvSpPr txBox="1"/>
          <p:nvPr/>
        </p:nvSpPr>
        <p:spPr>
          <a:xfrm>
            <a:off x="1676400" y="1012734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32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Big Data-</a:t>
            </a:r>
            <a:r>
              <a:rPr lang="en-US" sz="3200" b="1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Concept , Scope and Relevance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84F3D3-FFB5-FBE2-4EC7-FB3E9EA803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500"/>
                    </a14:imgEffect>
                    <a14:imgEffect>
                      <a14:saturation sat="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200" y="1828800"/>
            <a:ext cx="6225411" cy="2919186"/>
          </a:xfrm>
          <a:prstGeom prst="rect">
            <a:avLst/>
          </a:prstGeom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72E801AB-B231-9C03-DDC6-B1FE053AD893}"/>
              </a:ext>
            </a:extLst>
          </p:cNvPr>
          <p:cNvSpPr txBox="1"/>
          <p:nvPr/>
        </p:nvSpPr>
        <p:spPr>
          <a:xfrm>
            <a:off x="4114800" y="5136063"/>
            <a:ext cx="6781800" cy="31768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dirty="0"/>
              <a:t>The Fuel of Big Data: Information (</a:t>
            </a:r>
            <a:r>
              <a:rPr lang="en-US" sz="1600" dirty="0" err="1"/>
              <a:t>Vareity</a:t>
            </a:r>
            <a:r>
              <a:rPr lang="en-US" sz="1600" dirty="0"/>
              <a:t> , Volume, Velocity) </a:t>
            </a:r>
            <a:endParaRPr lang="en-US" sz="1600" b="1" dirty="0"/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dirty="0"/>
              <a:t>Equipment for Working with Big Data: Technology (Inferring Veracity)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dirty="0"/>
              <a:t>Transforming Big Data in Value: Methods (Value)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600" dirty="0"/>
              <a:t>How Big Data Changes our Lives: Impact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31749554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E882-E207-A69A-026B-1350A4B3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09EC4818-343B-60CD-DD0E-D6F27436D9A2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45DFFC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8C3D3E-C6B5-D1BF-B645-ED14EE2EC372}"/>
              </a:ext>
            </a:extLst>
          </p:cNvPr>
          <p:cNvSpPr txBox="1"/>
          <p:nvPr/>
        </p:nvSpPr>
        <p:spPr>
          <a:xfrm>
            <a:off x="1676400" y="820832"/>
            <a:ext cx="10820400" cy="587466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Autofit/>
          </a:bodyPr>
          <a:lstStyle/>
          <a:p>
            <a:pPr>
              <a:defRPr/>
            </a:pPr>
            <a:r>
              <a:rPr lang="en-US" sz="2200" b="1" u="sng" spc="2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: </a:t>
            </a:r>
            <a:r>
              <a:rPr lang="en-US" sz="2200" b="1" u="sng" spc="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Epidemeilogy</a:t>
            </a:r>
            <a:endParaRPr lang="en-US" sz="2200" b="1" u="sng" spc="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spc="200" dirty="0">
                <a:solidFill>
                  <a:srgbClr val="000099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Big Data Analytics to Control COVID-19 Pandemic</a:t>
            </a:r>
            <a:endParaRPr lang="en-US" sz="2500" b="1" spc="200" dirty="0">
              <a:solidFill>
                <a:srgbClr val="000099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57D95217-FB53-807E-0551-3A0D5B4DB482}"/>
              </a:ext>
            </a:extLst>
          </p:cNvPr>
          <p:cNvSpPr txBox="1"/>
          <p:nvPr/>
        </p:nvSpPr>
        <p:spPr>
          <a:xfrm>
            <a:off x="2697371" y="5828098"/>
            <a:ext cx="6019800" cy="274138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Citation</a:t>
            </a:r>
            <a:r>
              <a:rPr lang="en-US" b="1" dirty="0"/>
              <a:t> : https://pmc.ncbi.nlm.nih.gov/articles/PMC8037067/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868CB-3EF7-D247-37E7-FB67CD5F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48" y="1408298"/>
            <a:ext cx="6400800" cy="1835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33A8D6-ADF8-7EAB-4C36-09D65A9604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088" y="3327651"/>
            <a:ext cx="6400800" cy="263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31628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0260" y="1371600"/>
            <a:ext cx="5491480" cy="130492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zh-CN" altLang="en-US" sz="8800" b="0" i="0" u="none" spc="200" baseline="0" dirty="0">
                <a:solidFill>
                  <a:srgbClr val="002060"/>
                </a:solidFill>
                <a:latin typeface="思源黑体 Medium"/>
                <a:ea typeface="思源黑体 Medium"/>
              </a:rPr>
              <a:t>Thank you</a:t>
            </a:r>
            <a:endParaRPr lang="en-US" altLang="zh-CN" sz="8800" b="0" i="0" u="none" spc="200" baseline="0" dirty="0">
              <a:solidFill>
                <a:srgbClr val="002060"/>
              </a:solidFill>
              <a:latin typeface="思源黑体 Medium"/>
              <a:ea typeface="思源黑体 Medium"/>
            </a:endParaRPr>
          </a:p>
          <a:p>
            <a:pPr marL="0" indent="0" algn="dist" fontAlgn="auto">
              <a:lnSpc>
                <a:spcPct val="100000"/>
              </a:lnSpc>
              <a:defRPr/>
            </a:pPr>
            <a:r>
              <a:rPr lang="en-US" sz="8800" spc="200" dirty="0">
                <a:solidFill>
                  <a:srgbClr val="002060"/>
                </a:solidFill>
                <a:latin typeface="思源黑体 Medium"/>
              </a:rPr>
              <a:t>Q&amp;A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45DFFC"/>
      </a:dk2>
      <a:lt2>
        <a:srgbClr val="FFFFFF"/>
      </a:lt2>
      <a:accent1>
        <a:srgbClr val="45DFFC"/>
      </a:accent1>
      <a:accent2>
        <a:srgbClr val="45DFFC"/>
      </a:accent2>
      <a:accent3>
        <a:srgbClr val="45DFFC"/>
      </a:accent3>
      <a:accent4>
        <a:srgbClr val="45DFFC"/>
      </a:accent4>
      <a:accent5>
        <a:srgbClr val="45DFFC"/>
      </a:accent5>
      <a:accent6>
        <a:srgbClr val="45DFFC"/>
      </a:accent6>
      <a:hlink>
        <a:srgbClr val="262626"/>
      </a:hlink>
      <a:folHlink>
        <a:srgbClr val="262626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446</Words>
  <Application>Microsoft Office PowerPoint</Application>
  <PresentationFormat>Widescreen</PresentationFormat>
  <Paragraphs>50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Microsoft YaHei</vt:lpstr>
      <vt:lpstr>Aptos</vt:lpstr>
      <vt:lpstr>Arial</vt:lpstr>
      <vt:lpstr>Book Antiqua</vt:lpstr>
      <vt:lpstr>Centaur</vt:lpstr>
      <vt:lpstr>Times New Roman</vt:lpstr>
      <vt:lpstr>Wingdings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Amanullah Khan</cp:lastModifiedBy>
  <cp:revision>52</cp:revision>
  <dcterms:created xsi:type="dcterms:W3CDTF">2026-03-12T06:22:04Z</dcterms:created>
  <dcterms:modified xsi:type="dcterms:W3CDTF">2026-03-14T03:56:03Z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{"ContentPropagator":"文多多","Label":"1","ReservedCode1":"1773296524875","ProduceID":"wenduoduo-pptx-1773296524875","ReservedCode2":"1773296524875","PropagateID":"wenduoduo-pptx1773296524875","ContentProducer":"文多多"}</vt:lpwstr>
  </property>
  <property fmtid="{D5CDD505-2E9C-101B-9397-08002B2CF9AE}" pid="5" name="TitusGUID">
    <vt:lpwstr>187f8fa0-480d-4001-8378-30fef5d7d38e</vt:lpwstr>
  </property>
  <property fmtid="{D5CDD505-2E9C-101B-9397-08002B2CF9AE}" pid="6" name="HCLClassD6">
    <vt:lpwstr>False</vt:lpwstr>
  </property>
  <property fmtid="{D5CDD505-2E9C-101B-9397-08002B2CF9AE}" pid="7" name="HCLClassification">
    <vt:lpwstr>HCL_Cla5s_P3rs0nalUs3</vt:lpwstr>
  </property>
</Properties>
</file>